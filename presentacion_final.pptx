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3A8C"/>
                </a:solidFill>
              </a:defRPr>
            </a:pPr>
            <a:r>
              <a:t>Módulo de segmentación y clasificación para fiscalización pesquera</a:t>
            </a:r>
          </a:p>
          <a:p>
            <a:pPr>
              <a:spcBef>
                <a:spcPts val="1600"/>
              </a:spcBef>
              <a:defRPr sz="2000">
                <a:solidFill>
                  <a:srgbClr val="333333"/>
                </a:solidFill>
              </a:defRPr>
            </a:pPr>
            <a:r>
              <a:t>Procesamiento digital de imágenes aplicado a puntos de desembarco del río Paraná (INALI)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E3A8C"/>
                </a:solidFill>
              </a:defRPr>
            </a:pPr>
            <a:r>
              <a:t>Santiago Bargas  ·  Segundo Saccanni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Contexto y Motivación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INALI (Instituto Nacional de Limnología) y los organismos de fiscalización del río Paraná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relevan a mano la especie y el tamaño de cada pez capturado, para controlar tallas mínimas y cupos.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Ese proceso manual es lento, depende de la experiencia del fiscalizador y es difícil de estandarizar entre puntos de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64240" cy="1463040"/>
          </a:xfrm>
          <a:prstGeom prst="rect">
            <a:avLst/>
          </a:prstGeom>
          <a:solidFill>
            <a:srgbClr val="E4E2F5"/>
          </a:solidFill>
          <a:ln>
            <a:noFill/>
          </a:ln>
        </p:spPr>
        <p:txBody>
          <a:bodyPr wrap="square" lIns="137160" rIns="137160" tIns="91440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Una foto tomada con el celular podría identificar automáticamente cada individuo, reconocer su especie y estimar sus dimensiones — agilizando el proceso y reduciendo la subjetividad. Este es el sistema que desarrollamos para INALI.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Objetivos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1. Separar el fondo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t>   -  Aislar cada individuo de la imagen capturada sobre superficie plana.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2. Rectificar orientación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t>   -  Llevar cada individuo a una orientación canónica común (cabeza izquierda, hocico abajo).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3. Clasificar especie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t>   -  Identificar automáticamente la especie de cada individuo (YOLOv8n-cls).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4. Estimar medidas</a:t>
            </a:r>
          </a:p>
          <a:p>
            <a:pPr>
              <a:spcAft>
                <a:spcPts val="1000"/>
              </a:spcAft>
              <a:defRPr sz="1900">
                <a:solidFill>
                  <a:srgbClr val="333333"/>
                </a:solidFill>
              </a:defRPr>
            </a:pPr>
            <a:r>
              <a:t>   -  Calcular dimensiones morfológicas (largo) a partir de la escala física del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solidFill>
            <a:srgbClr val="E4E2F5"/>
          </a:solidFill>
          <a:ln>
            <a:noFill/>
          </a:ln>
        </p:spPr>
        <p:txBody>
          <a:bodyPr wrap="square" lIns="137160" rIns="137160" tIns="91440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Etapas 1 a 4 implementadas y validadas sobre AutoFish; calibración con objeto de referencia real queda para el dataset propio del río Paraná.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Dataset AutoFish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1500 imágenes de una cinta transportadora, 25 grupos (group_01 a group_25)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18.158 anotaciones (peces marcados, con repeticiones) — 454 individuos distintos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Cada individuo aparece ~40 veces, repetido SOLO dentro de un único grupo (distintas poses)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7 especies: cod, haddock, whiting, hake, horse mackerel, saithe, other</a:t>
            </a:r>
          </a:p>
          <a:p>
            <a:pPr>
              <a:spcAft>
                <a:spcPts val="1000"/>
              </a:spcAft>
              <a:defRPr sz="2100">
                <a:solidFill>
                  <a:srgbClr val="333333"/>
                </a:solidFill>
              </a:defRPr>
            </a:pPr>
            <a:r>
              <a:t>•  Imagen = 100×100 cm reales sobre 2464×2056 px (documentado en el paper de AutoFish)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Pipeline Propuesto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1. Entrada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 Carga de imagen + anotaciones (solo en desarrollo/evaluación)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2. Preprocesamiento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 Segmentación por distancia de color + morfología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3. Rectificación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 Transformación de perspectiva + orientación canónica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4. Clasificación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 YOLOv8n-cls por especie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5-6. Talla y salida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 Medidas en cm + registro estructurado por individuo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solidFill>
            <a:srgbClr val="E4E2F5"/>
          </a:solidFill>
          <a:ln>
            <a:noFill/>
          </a:ln>
        </p:spPr>
        <p:txBody>
          <a:bodyPr wrap="square" lIns="137160" rIns="137160" tIns="91440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Etapas 1-4 implementadas y validadas sobre AutoFish. Etapas 5-6 ya calibradas con la escala real del dataset (100×100cm / 2464×2056px).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Preprocesamiento y Rectificación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Segmentación por distancia de color: se estima el color de fondo en el borde de la imagen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y se umbraliza (Otsu) la distancia de cada píxel a ese color — detecta individuos aunque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compartan brillo con el fondo (a diferencia de umbralizar solo escala de grises).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Limpieza morfológica: apertura + cierre, kernel cruz 21×21.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Rectificación geométrica: transformación de perspectiva + espejado horizontal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•  (cabeza siempre a la izquierda) y vertical (hocico hacia abajo), calculados solo desde la máscara.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3A8C"/>
                </a:solidFill>
              </a:defRPr>
            </a:pPr>
            <a:r>
              <a:t>Resultados de Segmentación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949440" cy="463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8872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Medido sobre 1000 imágenes: % de peces anotados que no se detectan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Config. inicial (kernel 35×35, área≥25000px):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   -  12.75% perdidos, 62.3% de imágenes afectadas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Config. final (kernel 21×21, área≥10000px):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   -  6.65% perdidos, a costa de 5.2% de detecciones falsas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</a:defRPr>
            </a:pPr>
            <a:r>
              <a:t>•  Umbral de área expresado en % del total de píxeles</a:t>
            </a:r>
          </a:p>
          <a:p>
            <a:pPr>
              <a:spcAft>
                <a:spcPts val="1000"/>
              </a:spcAft>
              <a:defRPr sz="1300">
                <a:solidFill>
                  <a:srgbClr val="333333"/>
                </a:solidFill>
              </a:defRPr>
            </a:pPr>
            <a:r>
              <a:t>   -  (no en píxeles fijos) → válido ante cambios de resolución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E3A8C"/>
                </a:solidFill>
              </a:defRPr>
            </a:pPr>
            <a:r>
              <a:t>Clasificación de Especies — YOLOv8n-cls</a:t>
            </a:r>
          </a:p>
        </p:txBody>
      </p:sp>
      <p:pic>
        <p:nvPicPr>
          <p:cNvPr id="3" name="Picture 2" descr="perdida_entre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931920" cy="2948940"/>
          </a:xfrm>
          <a:prstGeom prst="rect">
            <a:avLst/>
          </a:prstGeom>
        </p:spPr>
      </p:pic>
      <p:pic>
        <p:nvPicPr>
          <p:cNvPr id="4" name="Picture 3" descr="accuracy_entren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931920" cy="2948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188720"/>
            <a:ext cx="3200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Split por GRUPO completo (no por imagen):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   -  train 64% (g01-16) · val 16% (g17-20) · test 20% (g21-25)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   -  el test nunca fue visto durante el entrenamiento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98.0% top-1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   -  máximo en validación, época 7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96.2% top-1</a:t>
            </a:r>
          </a:p>
          <a:p>
            <a:pPr>
              <a:spcAft>
                <a:spcPts val="1000"/>
              </a:spcAft>
              <a:defRPr sz="1200">
                <a:solidFill>
                  <a:srgbClr val="333333"/>
                </a:solidFill>
              </a:defRPr>
            </a:pPr>
            <a:r>
              <a:t>   -  test ciego, 1622 recortes nunca vistos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 Sin señal de sobreajuste (pérdida val. no se despega)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E3A8C"/>
                </a:solidFill>
              </a:defRPr>
            </a:pPr>
            <a:r>
              <a:t>Matriz de Confusión — Test Ciego</a:t>
            </a:r>
          </a:p>
        </p:txBody>
      </p:sp>
      <p:pic>
        <p:nvPicPr>
          <p:cNvPr id="3" name="Picture 2" descr="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85216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11887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Las 6 especies más representadas: ≥92% de precisión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saithe: solo 71% — confunde con cod y hake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¿Por qué? Solo 13 individuos saithe en TODO el dataset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 (vs. 49-119 del resto de las especies)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 13 peces ÷ split por grupo → solo 2 quedan en el test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 → muy pocos ejemplos para aprender bien la especie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E3A8C"/>
                </a:solidFill>
              </a:defRPr>
            </a:pPr>
            <a:r>
              <a:t>Conclusiones y 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120640"/>
          </a:xfrm>
          <a:prstGeom prst="rect">
            <a:avLst/>
          </a:prstGeom>
          <a:solidFill>
            <a:srgbClr val="2E3A8C"/>
          </a:solidFill>
        </p:spPr>
        <p:txBody>
          <a:bodyPr wrap="square" lIns="228600" tIns="182880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Logros principales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Pipeline de segmentación y rectificación sin anotaciones externas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Individuos perdidos: 12.75% → 6.65% (ajuste de parámetros)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Clasificación YOLOv8n-cls: 96.2% en test ciego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Escala física real (100×100cm / 2464×2056px), no estimada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3A8C"/>
                </a:solidFill>
              </a:defRPr>
            </a:pPr>
            <a:r>
              <a:t>Próximos pasos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Portabilidad a app móvil para uso en campo por fiscalizadores del INALI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Integración con datos reales del INALI (río Paraná, desde jul/ago 2026)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Manejo de peces solapados con segmentación de instancias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Fondo de color contrastante (ej. verde) para reducir confusión individuo/fondo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•  Detección de condición sanitaria (aletas, coloración, morfología)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